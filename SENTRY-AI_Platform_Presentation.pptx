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12648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06B6D4"/>
                </a:solidFill>
                <a:latin typeface="Segoe UI"/>
              </a:defRPr>
            </a:pPr>
            <a:r>
              <a:t>VISION FORENSICS GROUP // TECHNICAL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365760"/>
            <a:ext cx="36576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900" b="1">
                <a:solidFill>
                  <a:srgbClr val="EF4444"/>
                </a:solidFill>
                <a:latin typeface="Segoe UI"/>
              </a:defRPr>
            </a:pPr>
            <a:r>
              <a:t>CLASSIFICATION: INTERNAL USE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6000">
                <a:solidFill>
                  <a:srgbClr val="06B6D4"/>
                </a:solidFill>
                <a:latin typeface="Segoe UI"/>
              </a:defRPr>
            </a:pPr>
            <a:r>
              <a:t>S E N T R Y - A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000">
                <a:solidFill>
                  <a:srgbClr val="FFFFFF"/>
                </a:solidFill>
                <a:latin typeface="Segoe UI"/>
              </a:defRPr>
            </a:pPr>
            <a:r>
              <a:t>Next-Generation DeepForensics &amp; Asynchronous CCTV Intelligence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4266590" y="4114800"/>
            <a:ext cx="36576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94A3B8"/>
                </a:solidFill>
                <a:latin typeface="Segoe UI"/>
              </a:defRPr>
            </a:pPr>
            <a:r>
              <a:t>Architectural Design, Algorithms, and Multi-Dimensional Engine Specifications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000">
                <a:solidFill>
                  <a:srgbClr val="06B6D4"/>
                </a:solidFill>
                <a:latin typeface="Segoe UI"/>
              </a:defRPr>
            </a:pPr>
            <a:r>
              <a:t>SENTRY-AI // SECURING VISION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Segoe UI"/>
              </a:defRPr>
            </a:pPr>
            <a:r>
              <a:t>The Threat Landscape: Generative AI Manipulation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21826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400"/>
              </a:spcAft>
              <a:defRPr b="1" sz="1500">
                <a:solidFill>
                  <a:srgbClr val="EF4444"/>
                </a:solidFill>
                <a:latin typeface="Segoe UI"/>
              </a:defRPr>
            </a:pPr>
            <a:r>
              <a:t>■  THE CORE SECURITY CHALLENGES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Rapid evolution of Generative Adversarial Networks (GANs) and Diffusion models allows threat actors to create highly realistic deepfakes.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Visual evidence integrity is compromised, undermining legal evidence, identity validation, and corporate communications.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Manual inspection of hours of CCTV and media feeds is subjective, exhausting, and fails to identify sub-pixel mathematical manipulations.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Modern threat detection requires a unified, high-throughput solution that combines media forensics and motion intelligence.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21826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400"/>
              </a:spcAft>
              <a:defRPr b="1" sz="1500">
                <a:solidFill>
                  <a:srgbClr val="10B981"/>
                </a:solidFill>
                <a:latin typeface="Segoe UI"/>
              </a:defRPr>
            </a:pPr>
            <a:r>
              <a:t>■  THE SENTRY-AI RESPONSE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Dual-Engine Defense: A unified framework implementing high-dimensional Deepfake Forensics and automated CCTV Summarization.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Multi-Modal Verification: Checks for structural anomalies, frequency domain traces, and temporal optical flow inconsistencies.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Automated Footage Compression: Clusters and isolates critical activity timestamps, reducing inspection times by over 80%.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Operator-First Intelligence: Provides immediate executive briefs, anomaly grids, and threat scoring in a premium React command console.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000">
                <a:solidFill>
                  <a:srgbClr val="06B6D4"/>
                </a:solidFill>
                <a:latin typeface="Segoe UI"/>
              </a:defRPr>
            </a:pPr>
            <a:r>
              <a:t>SENTRY-AI // DEPLOYMENT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Segoe UI"/>
              </a:defRPr>
            </a:pPr>
            <a:r>
              <a:t>System Architecture &amp; Core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21826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400"/>
              </a:spcAft>
              <a:defRPr b="1" sz="1500">
                <a:solidFill>
                  <a:srgbClr val="06B6D4"/>
                </a:solidFill>
                <a:latin typeface="Segoe UI"/>
              </a:defRPr>
            </a:pPr>
            <a:r>
              <a:t>■  HIGH-PERFORMANCE TECH STACK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FastAPI Backend Portal: Asynchronous file processing running Python 3.14 with structured request validation schemas.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Vision &amp; Neural Foundations: Leverages PyTorch deep learning, Torchvision neural detectors, and highly optimized OpenCV pipelines.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Modern Forensics Console: React 18 frontend built with Vite, styled with Tailwind CSS, and equipped with responsive Recharts graphs.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Zero-Leak Memory Engine: Implements background session-based file storage management with automatic age-based cleanups.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21826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400"/>
              </a:spcAft>
              <a:defRPr b="1" sz="1500">
                <a:solidFill>
                  <a:srgbClr val="10B981"/>
                </a:solidFill>
                <a:latin typeface="Segoe UI"/>
              </a:defRPr>
            </a:pPr>
            <a:r>
              <a:t>■  MODULAR PROCESSING PIPELINE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1. Media Ingestion: Handles video/image payloads up to 100MB with extensions validation.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2. Uniform Sampling: Extracts exact frame intervals (e.g. 30 frames) for rapid forensic inspection without losing sequence context.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3. Dual Engine Routing: Routes payloads dynamically to the Forensic Engine (deepfakes) or CCTV Summarizer Engine (footage intelligence).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4. Dynamic Report Compilation: Combines metrics into unified JSON reports for client-side rendering and local analytics storage.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000">
                <a:solidFill>
                  <a:srgbClr val="06B6D4"/>
                </a:solidFill>
                <a:latin typeface="Segoe UI"/>
              </a:defRPr>
            </a:pPr>
            <a:r>
              <a:t>SENTRY-AI // SPATIAL DETECTORS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Segoe UI"/>
              </a:defRPr>
            </a:pPr>
            <a:r>
              <a:t>Deepfake Forensic Engine: Spatial Domain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21826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400"/>
              </a:spcAft>
              <a:defRPr b="1" sz="1500">
                <a:solidFill>
                  <a:srgbClr val="06B6D4"/>
                </a:solidFill>
                <a:latin typeface="Segoe UI"/>
              </a:defRPr>
            </a:pPr>
            <a:r>
              <a:t>■  BOUNDARY BLENDING DEGRADATION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Manipulated faces must be blended/warped onto target bodies. This leaves telltale anomalies at the face splice margins.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The engine isolates detected face crops (via MTCNN or Haar Cascades) and segments them into border and inner zones.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It computes the Laplacian variance ratio of boundary vs inner area: natural faces have progressive ratios (~0.7-1.1).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Synthetically warped borders show heavily smoothed borders (low ratio) or excessive sharpening artifacts (high ratio).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21826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400"/>
              </a:spcAft>
              <a:defRPr b="1" sz="1500">
                <a:solidFill>
                  <a:srgbClr val="06B6D4"/>
                </a:solidFill>
                <a:latin typeface="Segoe UI"/>
              </a:defRPr>
            </a:pPr>
            <a:r>
              <a:t>■  LIGHTING ASYMMETRY &amp; TEXTURE NOISE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Lighting Vector Asymmetry: Compares horizontal luminance gradients (Sobel X filters) between left and right facial halves.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Splice detection catches inconsistencies where artificial lighting angles on the face mismatch the scene background.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Texture Noise Coherence: Runs standard deviation checks across localized 8x8 pixels to track generative noise profiles.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Symmetry Verification: Measures eye structure, sizes, and relative distances to flag structural facial asymmetries.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000">
                <a:solidFill>
                  <a:srgbClr val="06B6D4"/>
                </a:solidFill>
                <a:latin typeface="Segoe UI"/>
              </a:defRPr>
            </a:pPr>
            <a:r>
              <a:t>SENTRY-AI // FREQUENCY &amp; TEMPORAL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Segoe UI"/>
              </a:defRPr>
            </a:pPr>
            <a:r>
              <a:t>Deepfake Forensic Engine: Spectral &amp; Temporal Domains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21826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400"/>
              </a:spcAft>
              <a:defRPr b="1" sz="1500">
                <a:solidFill>
                  <a:srgbClr val="F97316"/>
                </a:solidFill>
                <a:latin typeface="Segoe UI"/>
              </a:defRPr>
            </a:pPr>
            <a:r>
              <a:t>■  2D FFT SPECTRAL ANALYSIS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Generative algorithms (GANs, Diffusion) utilize upsampling (deconvolution) layers, which leave regular artifacts in the frequency domain.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The engine applies a 2D Fast Fourier Transform (FFT) on face crops to compute their radial magnitude spectrum profiles.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It separates low frequencies (overall face structure) from high frequencies (fine textures) to measure relative energy.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Spikes or flat high-frequency profiles expose generative signatures. It outputs a 10x10 local spectral anomaly grid.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21826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400"/>
              </a:spcAft>
              <a:defRPr b="1" sz="1500">
                <a:solidFill>
                  <a:srgbClr val="F97316"/>
                </a:solidFill>
                <a:latin typeface="Segoe UI"/>
              </a:defRPr>
            </a:pPr>
            <a:r>
              <a:t>■  SPATIOTEMPORAL OPTICAL FLOW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Deepfakes struggle with temporal continuity: synthetic faces often 'flutter' or warp slightly from frame to frame.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The temporal detector tracks consecutive sampled frames and crops the primary face region.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It calculates Farneback Dense Optical Flow between frames to monitor flow magnitude, velocity standard deviation, and peak shifts.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Natural facial movement is smooth and continuous. High-frequency velocity fluctuations indicate temporal anomalies.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000">
                <a:solidFill>
                  <a:srgbClr val="06B6D4"/>
                </a:solidFill>
                <a:latin typeface="Segoe UI"/>
              </a:defRPr>
            </a:pPr>
            <a:r>
              <a:t>SENTRY-AI // FOOTAGE COMPRESSION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Segoe UI"/>
              </a:defRPr>
            </a:pPr>
            <a:r>
              <a:t>CCTV Summarizer: Motion Profiling &amp; Compression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21826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400"/>
              </a:spcAft>
              <a:defRPr b="1" sz="1500">
                <a:solidFill>
                  <a:srgbClr val="06B6D4"/>
                </a:solidFill>
                <a:latin typeface="Segoe UI"/>
              </a:defRPr>
            </a:pPr>
            <a:r>
              <a:t>■  ACTIVE MOTION PROFILE EXTRACTION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To process CCTV footage efficiently, the engine monitors raw motion changes across sampled frames.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It converts frames to grayscale, applies a Gaussian Blur (15x15) to reduce noise, and calculates absolute pixel differences.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Applying binary thresholds and dilations isolates cohesive moving bodies while removing background compression noise.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It tracks the active pixel ratio to generate a visual motion profile timeline for immediate charting.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21826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400"/>
              </a:spcAft>
              <a:defRPr b="1" sz="1500">
                <a:solidFill>
                  <a:srgbClr val="10B981"/>
                </a:solidFill>
                <a:latin typeface="Segoe UI"/>
              </a:defRPr>
            </a:pPr>
            <a:r>
              <a:t>■  TIMELINE ACTIVITY EVENT CLUSTERING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Groups contiguous frames exceeding a 1.2% motion threshold into discrete security 'Activity Events'.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Coalesces active events separated by less than 2.0 seconds to keep activities (e.g. crossing a yard) in a single clip.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Isolates the peak motion timestamp in each event to select a high-fidelity keyframe.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Allows operators to instantly skip blank periods, review summaries, and cut security footage inspection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000">
                <a:solidFill>
                  <a:srgbClr val="06B6D4"/>
                </a:solidFill>
                <a:latin typeface="Segoe UI"/>
              </a:defRPr>
            </a:pPr>
            <a:r>
              <a:t>SENTRY-AI // NEURAL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Segoe UI"/>
              </a:defRPr>
            </a:pPr>
            <a:r>
              <a:t>CCTV Neural Vision: Object Tracking &amp; Threats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21826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400"/>
              </a:spcAft>
              <a:defRPr b="1" sz="1500">
                <a:solidFill>
                  <a:srgbClr val="F97316"/>
                </a:solidFill>
                <a:latin typeface="Segoe UI"/>
              </a:defRPr>
            </a:pPr>
            <a:r>
              <a:t>■  SSDLITE MOBILENETV3 TRACKING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Runs a lightweight neural object detector (SSDLite MobileNetV3) tracking 15 COCO classes (Person, Vehicle, Bags, etc.).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Maintains high speed (~12MB model size) suitable for local dev servers and real-time security systems.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Heuristic Fallback: Uses aspect-ratio contours (tall for persons, wide for vehicles) if hardware constraints disable PyTorch.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Calculates dynamic threat scores combining category weights, motion velocity, and late-night parameters.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21826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400"/>
              </a:spcAft>
              <a:defRPr b="1" sz="1500">
                <a:solidFill>
                  <a:srgbClr val="EF4444"/>
                </a:solidFill>
                <a:latin typeface="Segoe UI"/>
              </a:defRPr>
            </a:pPr>
            <a:r>
              <a:t>■  HEURISTIC SECURITY VIOLATIONS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Night Intrusion: Flags a person detected during restricted night-time hours (9 PM - 6 AM) with immediate alerts.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Unattended Baggage: Detects bags (backpack, suitcase) that remain stationary and unattended for more than 5 seconds.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Reckless Driving: Triggers if a vehicle velocity (pixel-shift delta) exceeds extreme safety thresholds.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Erratic Pedestrian Activity: Monitors rapid motion standard deviations to identify physical altercations or panic running.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000">
                <a:solidFill>
                  <a:srgbClr val="06B6D4"/>
                </a:solidFill>
                <a:latin typeface="Segoe UI"/>
              </a:defRPr>
            </a:pPr>
            <a:r>
              <a:t>SENTRY-AI // COMMAND CONSOLE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Segoe UI"/>
              </a:defRPr>
            </a:pPr>
            <a:r>
              <a:t>Interactive Cyber Dashboard: User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21826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400"/>
              </a:spcAft>
              <a:defRPr b="1" sz="1500">
                <a:solidFill>
                  <a:srgbClr val="06B6D4"/>
                </a:solidFill>
                <a:latin typeface="Segoe UI"/>
              </a:defRPr>
            </a:pPr>
            <a:r>
              <a:t>■  VISUAL FORENSIC CONSOLE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Cyberpunk Aesthetic: Modern dashboard utilizing sleek neon-accented dark modes, clear layout cards, and custom CSS styling.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Interactive Timelines: Operators can scroll through isolated security events, showing timestamps, duration, and labels.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Keyframe Visualizer: Displays high-resolution full frames alongside cropped anomaly heatmaps for immediate verification.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Active Motion Charts: Renders dynamic line graphs of motion profiles to visually flag peak velocity event timestamps.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21826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400"/>
              </a:spcAft>
              <a:defRPr b="1" sz="1500">
                <a:solidFill>
                  <a:srgbClr val="10B981"/>
                </a:solidFill>
                <a:latin typeface="Segoe UI"/>
              </a:defRPr>
            </a:pPr>
            <a:r>
              <a:t>■  OPERATOR WORKFLOW TOOLS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Executive Intelligence Brief: Automatically generates a natural language overview summarizing events and metrics.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Verdicts and Alert Banners: Uses bright status indicators (Secure - Green, Warning - Orange, Critical - Red) for alerts.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Dual Modes Selector: Allows quick switching between Deepfake Forensic analysis and CCTV summarization modules.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System Health Portal: Real-time API monitoring showing server latency, model status, and CUDA hardware availability.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000">
                <a:solidFill>
                  <a:srgbClr val="06B6D4"/>
                </a:solidFill>
                <a:latin typeface="Segoe UI"/>
              </a:defRPr>
            </a:pPr>
            <a:r>
              <a:t>SENTRY-AI // MILESTONES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Segoe UI"/>
              </a:defRPr>
            </a:pPr>
            <a:r>
              <a:t>Project Summary &amp; Future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21826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400"/>
              </a:spcAft>
              <a:defRPr b="1" sz="1500">
                <a:solidFill>
                  <a:srgbClr val="10B981"/>
                </a:solidFill>
                <a:latin typeface="Segoe UI"/>
              </a:defRPr>
            </a:pPr>
            <a:r>
              <a:t>■  CURRENT SYSTEM MILESTONES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Unified FastAPI API backend processing asynchronous video and image analysis payloads.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Hybrid Forensic Engine (MTCNN, 2D FFT, Laplacian Border variance, Farneback Dense Flow, PyTorch classifier).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Responsive React Frontend Console featuring real-time visual heatmaps, timeline events, and line graphs.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PyTorch classifier training script (train.py) successfully mapped for local dataset compilation and weight export.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21826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1400"/>
              </a:spcAft>
              <a:defRPr b="1" sz="1500">
                <a:solidFill>
                  <a:srgbClr val="06B6D4"/>
                </a:solidFill>
                <a:latin typeface="Segoe UI"/>
              </a:defRPr>
            </a:pPr>
            <a:r>
              <a:t>■  FUTURE ENHANCEMENTS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Custom YOLOv8 Integration: Replace SSDLite with customized YOLO models for precise detection in low-light conditions.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Live RTSP Video Streaming: Integrate WebSockets to process active surveillance streams with sub-second latency.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Decentralized Edge Deployment: Containerize applications using Docker for deployment on local edge hardware.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Active Learning Pipeline: Auto-flag low-confidence verdicts for operator confirmation to continually train and refine weights.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